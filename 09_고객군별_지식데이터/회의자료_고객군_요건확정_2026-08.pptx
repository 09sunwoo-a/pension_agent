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화법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10</c:v>
                </c:pt>
                <c:pt idx="3">
                  <c:v>12</c:v>
                </c:pt>
                <c:pt idx="4">
                  <c:v>11</c:v>
                </c:pt>
                <c:pt idx="5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방법론</c:v>
                </c:pt>
              </c:strCache>
            </c:strRef>
          </c:tx>
          <c:spPr>
            <a:solidFill>
              <a:srgbClr val="3E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10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팩트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근거</c:v>
                </c:pt>
              </c:strCache>
            </c:strRef>
          </c:tx>
          <c:spPr>
            <a:solidFill>
              <a:srgbClr val="8A6D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7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금지</c:v>
                </c:pt>
              </c:strCache>
            </c:strRef>
          </c:tx>
          <c:spPr>
            <a:solidFill>
              <a:srgbClr val="C0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절차</c:v>
                </c:pt>
              </c:strCache>
            </c:strRef>
          </c:tx>
          <c:spPr>
            <a:solidFill>
              <a:srgbClr val="A9B4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수익률 저조</c:v>
                  </c:pt>
                  <c:pt idx="1">
                    <c:v>② 자산편중</c:v>
                  </c:pt>
                  <c:pt idx="2">
                    <c:v>③ 방치</c:v>
                  </c:pt>
                  <c:pt idx="3">
                    <c:v>④ 이탈가능성 높음</c:v>
                  </c:pt>
                  <c:pt idx="4">
                    <c:v>⑤ 세액공제·추가입금</c:v>
                  </c:pt>
                  <c:pt idx="5">
                    <c:v>⑥ 예금·GIC 만기예정</c:v>
                  </c:pt>
                </c:lvl>
              </c:multiLvlStrCache>
            </c:multiLvl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D6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Malgun Gothic"/>
              </a:rPr>
              <a:t>신뢰등급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신뢰등급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3E6B8C"/>
              </a:solidFill>
              <a:effectLst/>
            </c:spPr>
          </c:dPt>
          <c:dPt>
            <c:idx val="2"/>
            <c:bubble3D val="0"/>
            <c:spPr>
              <a:solidFill>
                <a:srgbClr val="C8A951"/>
              </a:solidFill>
              <a:effectLst/>
            </c:spPr>
          </c:dPt>
          <c:dPt>
            <c:idx val="3"/>
            <c:bubble3D val="0"/>
            <c:spPr>
              <a:solidFill>
                <a:srgbClr val="C045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본부공식</c:v>
                </c:pt>
                <c:pt idx="1">
                  <c:v>현장팁</c:v>
                </c:pt>
                <c:pt idx="2">
                  <c:v>대외공개</c:v>
                </c:pt>
                <c:pt idx="3">
                  <c:v>정리자해석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101</c:v>
                </c:pt>
                <c:pt idx="1">
                  <c:v>20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Malgun Gothic"/>
              </a:rPr>
              <a:t>공개등급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공개등급</c:v>
                </c:pt>
              </c:strCache>
            </c:strRef>
          </c:tx>
          <c:spPr>
            <a:solidFill>
              <a:srgbClr val="C0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45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E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사내전용</c:v>
                  </c:pt>
                  <c:pt idx="1">
                    <c:v>표현변경후</c:v>
                  </c:pt>
                  <c:pt idx="2">
                    <c:v>대고객가능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</c:v>
                </c:pt>
                <c:pt idx="1">
                  <c:v>26</c:v>
                </c:pt>
                <c:pt idx="2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b"/>
        <c:majorGridlines>
          <c:spPr>
            <a:ln w="6350" cap="flat">
              <a:solidFill>
                <a:srgbClr val="D6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회의 목적: 고객군 6종의 대상 요건을 확정하고, 임계값·상충 항목 11건을 결정한다.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원인(구성 문제 / 상품 문제)이 특정되지 않으면 접촉해도 제안할 것이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다른 고객군이 흘러드는 종착지 — 규모 추정의 기준점이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예방 트랙의 출발점 — 여기서 잡으면 ②·④로 가지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사유를 특정하기 전에 대안을 꺼내면 남은 카드를 태운다 (KU-G-008).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기한 트랙(ISA·퇴직금 60일)과 습관 트랙(잔여한도)을 분리해 운영한다.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유일하게 '고객이 이상하게 여기지 않는' 접촉 명분이고 기한이 자동으로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669280" cy="5669280"/>
          </a:xfrm>
          <a:prstGeom prst="ellipse">
            <a:avLst/>
          </a:prstGeom>
          <a:solidFill>
            <a:srgbClr val="2E42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749040"/>
            <a:ext cx="3108960" cy="3108960"/>
          </a:xfrm>
          <a:prstGeom prst="ellipse">
            <a:avLst/>
          </a:prstGeom>
          <a:solidFill>
            <a:srgbClr val="C8A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회의 자료 · 요건 확정용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개인형IRP 사후관리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6종 정의와 요건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8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행내 지식베이스 5개 축(고객세그먼트 79 · 방법론 129 · 화법 102 · 팩트 76 · 절차 74)에서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8D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고객군별로 지식을 추려 정규화한 결과와, 이번 회의에서 확정할 11개 안건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8A9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23   |   연금 에이전트 지식데이터 TF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자료는 대외비 행내 자료를 포함합니다 — 외부 반출 및 대고객 제시 금지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회의에서 결정할 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6종의 정의와 지식은 정리를 마쳤습니다. 남은 것은 숫자와 상충 항목입니다.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5740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확정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3225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79806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고객군마다 '어느 숫자부터 대상인가'.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자료마다 값이 달라 기본값을 정해야 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057400"/>
            <a:ext cx="457200" cy="457200"/>
          </a:xfrm>
          <a:prstGeom prst="ellipse">
            <a:avLst/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029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간 상충 해소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23225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44568" y="279806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수수료율 4갈래, 디폴트옵션 처리 절차,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KB증권 보전율 — 본부 확인이 필요합니다.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178308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057400"/>
            <a:ext cx="457200" cy="457200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23960" y="2029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정책·운영 규칙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23960" y="232257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47888" y="2798064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득점 지식을 어디까지 쓸 것인가,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검증필요 13건을 어떻게 처리할 것인가.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미뤄지면 무엇이 막히나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47731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임계값이 없으면 타깃 명세를 뽑을 수 없고(A), 상충 수치는 대고객 인용이 불가하며(B), 정책이 없으면 에이전트가 실적 논리를 고객에게 그대로 노출합니다(C).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09_고객군별_지식데이터 미결 과제 20건을 성격별로 재분류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배경과 작업 방법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600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고객군을 나누는가 · 어떤 자료에서 어떻게 만들었나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0881360" cy="0"/>
          </a:xfrm>
          <a:prstGeom prst="line">
            <a:avLst/>
          </a:prstGeom>
          <a:noFill/>
          <a:ln w="9525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865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865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6종 개요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23865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· 권장 타겟 · 지식 분포 · 고객군 간 전이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53512"/>
            <a:ext cx="10881360" cy="0"/>
          </a:xfrm>
          <a:prstGeom prst="line">
            <a:avLst/>
          </a:prstGeom>
          <a:noFill/>
          <a:ln w="9525">
            <a:solidFill>
              <a:srgbClr val="D6DC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729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172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고객군별 상세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31729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수익률 저조 ~ ⑥ 예금·GIC 만기예정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10881360" cy="0"/>
          </a:xfrm>
          <a:prstGeom prst="line">
            <a:avLst/>
          </a:prstGeom>
          <a:noFill/>
          <a:ln w="9525">
            <a:solidFill>
              <a:srgbClr val="D6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593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안건 11건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9593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6 · 상충 3 · 정책 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0"/>
          </a:xfrm>
          <a:prstGeom prst="line">
            <a:avLst/>
          </a:prstGeom>
          <a:noFill/>
          <a:ln w="9525">
            <a:solidFill>
              <a:srgbClr val="D6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45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7457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신뢰도와 다음 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7457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신뢰·공개등급 현황 · 일정 · 출처 일람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12664"/>
            <a:ext cx="10881360" cy="0"/>
          </a:xfrm>
          <a:prstGeom prst="line">
            <a:avLst/>
          </a:prstGeom>
          <a:noFill/>
          <a:ln w="9525">
            <a:solidFill>
              <a:srgbClr val="D6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자료는 이미 있는데, 도달하지 않는다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460건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지식 항목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축에서 추출된 검토 항목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5727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55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79개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고객군 후보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쓰면 타깃이 겹치고 흩어진다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572768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55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5320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고객군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633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집중할 대상으로 좁힌 결과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현장이 말하는 문제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" y="3831336"/>
            <a:ext cx="128016" cy="128016"/>
          </a:xfrm>
          <a:prstGeom prst="ellipse">
            <a:avLst/>
          </a:prstGeom>
          <a:solidFill>
            <a:srgbClr val="C8A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30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행원에게는 Wisenet을 뒤지고 Hot Tip을 검색할 시간이 없다 — 본부 자료의 '위치'를 아는 것 자체가 노하우로 공유된다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4306824"/>
            <a:ext cx="128016" cy="128016"/>
          </a:xfrm>
          <a:prstGeom prst="ellipse">
            <a:avLst/>
          </a:prstGeom>
          <a:solidFill>
            <a:srgbClr val="C8A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고객군에 임계값이 5갈래로 병존한다 — 어느 값으로 명세를 뽑아야 하는지 정해져 있지 않다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" y="4782312"/>
            <a:ext cx="128016" cy="128016"/>
          </a:xfrm>
          <a:prstGeom prst="ellipse">
            <a:avLst/>
          </a:prstGeom>
          <a:solidFill>
            <a:srgbClr val="C8A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6817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관리되지 않은 계좌의 이탈은 막을 수 없다 — 이탈 통보를 받은 뒤에는 카드가 한 장뿐이다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406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목표는 '지식을 더 모으는 것'이 아니라 — 타겟을 좁히고, 고객군마다 쓸 지식을 미리 붙여두는 것입니다.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07_에이전트_기능정의 구성 원칙 1 · 08_인사이트 현장의 목소리 50건 · 06_주제별_추출지식 5개 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방법 — 원천 자료에서 고객군별 지식데이터까지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2377440"/>
          </a:xfrm>
          <a:prstGeom prst="roundRect">
            <a:avLst>
              <a:gd name="adj" fmla="val 2679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수집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행내 가이드 12건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스타런 교육 15건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Tip 50건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Think 5건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15184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71216" y="1691640"/>
            <a:ext cx="2048256" cy="2377440"/>
          </a:xfrm>
          <a:prstGeom prst="roundRect">
            <a:avLst>
              <a:gd name="adj" fmla="val 2679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1874520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72384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주제별 추출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72384" y="272491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고객세그먼트 79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129 · 화법 102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팩트 76 · 절차 74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93792" y="1691640"/>
            <a:ext cx="2048256" cy="2377440"/>
          </a:xfrm>
          <a:prstGeom prst="roundRect">
            <a:avLst>
              <a:gd name="adj" fmla="val 2679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874520"/>
            <a:ext cx="384048" cy="384048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확정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94960" y="272491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79개 후보 중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사후관리 6종으로 압축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(팀 결정)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0336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6368" y="1691640"/>
            <a:ext cx="2048256" cy="2377440"/>
          </a:xfrm>
          <a:prstGeom prst="roundRect">
            <a:avLst>
              <a:gd name="adj" fmla="val 2679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17536" y="1874520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175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17536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매핑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17536" y="272491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고객군마다 쓸 지식만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 → 126개 지식유닛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없이 ID로 참조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82912" y="27432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38944" y="1691640"/>
            <a:ext cx="2048256" cy="2377440"/>
          </a:xfrm>
          <a:prstGeom prst="roundRect">
            <a:avLst>
              <a:gd name="adj" fmla="val 2679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1874520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4011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40112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40112" y="2724912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응답에 따라 갈리는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19건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(판별질문·대사·처리)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2793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회의는 03단계에서 남은 숫자와 04단계의 상충을 확정하는 자리입니다.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681728"/>
            <a:ext cx="11064240" cy="1243584"/>
          </a:xfrm>
          <a:prstGeom prst="roundRect">
            <a:avLst>
              <a:gd name="adj" fmla="val 4412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버리지 않은 원칙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51389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서로 다를 때 하나를 골라 나머지를 지우지 않았습니다. 출처·기준시점·'그 값이 만들어진 용도'를 함께 적재하고, 그중 하나만 기본값으로 표시했습니다 — 오늘 결정이 바뀌어도 근거를 다시 찾을 필요가 없습니다.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01~04 폴더 원천 자료 · 06_주제별_추출지식 · 09_고객군별_지식데이터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6종 — 무엇이 다른가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고객군마다 '왜 지금 접촉하는가'와 '무엇을 제안하는가'가 다르고, 쓰는 화법도 다릅니다.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29384"/>
            <a:ext cx="420624" cy="420624"/>
          </a:xfrm>
          <a:prstGeom prst="ellipse">
            <a:avLst/>
          </a:prstGeom>
          <a:solidFill>
            <a:srgbClr val="3E6B8C"/>
          </a:solidFill>
          <a:ln w="12700">
            <a:solidFill>
              <a:srgbClr val="3E6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929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 저조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적립금은 있으나 수익률이 기준선에 크게 못 미치는 고객 — 지적이 아니라 개선안으로 접근한다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3355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27건</a:t>
            </a:r>
            <a:pPr indent="0" marL="0">
              <a:buNone/>
            </a:pPr>
            <a:r>
              <a:rPr lang="en-US" sz="1000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3건   결정 3건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929384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6632" y="1929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자산편중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2441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적립금이 현금성자산·원리금보장상품 한쪽에 몰려 있는 고객 — 이탈률이 일반의 1.3배인 본부 최우선 관리군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07992" y="3355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40건</a:t>
            </a:r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3건   결정 3건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691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929384"/>
            <a:ext cx="420624" cy="420624"/>
          </a:xfrm>
          <a:prstGeom prst="ellipse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59952" y="1929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1312" y="2441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운용지시도 관리 접점도 없는 계좌 — 이탈 통보가 오기 전에 손을 대야 하는 유일한 구간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1312" y="3355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7B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31건</a:t>
            </a:r>
            <a:pPr indent="0" marL="0">
              <a:buNone/>
            </a:pPr>
            <a:r>
              <a:rPr lang="en-US" sz="1000" dirty="0">
                <a:solidFill>
                  <a:srgbClr val="6E7B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3건   결정 3건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215384"/>
            <a:ext cx="420624" cy="420624"/>
          </a:xfrm>
          <a:prstGeom prst="ellipse">
            <a:avLst/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53312" y="4215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이탈가능성 높음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" y="4727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전출 알림이 왔거나, 이탈 신호가 겹쳐 쌓인 고객 — 사유를 특정하기 전에는 대안을 꺼내지 않는다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5641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36건</a:t>
            </a:r>
            <a:pPr indent="0" marL="0">
              <a:buNone/>
            </a:pPr>
            <a:r>
              <a:rPr lang="en-US" sz="1000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4건   결정 4건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977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4215384"/>
            <a:ext cx="420624" cy="420624"/>
          </a:xfrm>
          <a:prstGeom prst="ellipse">
            <a:avLst/>
          </a:prstGeom>
          <a:solidFill>
            <a:srgbClr val="2C6E5B"/>
          </a:solidFill>
          <a:ln w="12700">
            <a:solidFill>
              <a:srgbClr val="2C6E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56632" y="4215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세액공제·추가입금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07992" y="4727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 여력이 남아 있는 고객 — 기한이 붙은 자금 이벤트(ISA·퇴직금 60일)가 최우선이고, 연금개시 계좌는 반드시 뺀다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07992" y="5641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31건</a:t>
            </a:r>
            <a:pPr indent="0" marL="0">
              <a:buNone/>
            </a:pPr>
            <a:r>
              <a:rPr lang="en-US" sz="1000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3건   결정 4건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977640"/>
            <a:ext cx="356616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1312" y="4215384"/>
            <a:ext cx="420624" cy="420624"/>
          </a:xfrm>
          <a:prstGeom prst="ellipse">
            <a:avLst/>
          </a:prstGeom>
          <a:solidFill>
            <a:srgbClr val="8A6D2F"/>
          </a:solidFill>
          <a:ln w="12700">
            <a:solidFill>
              <a:srgbClr val="8A6D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59952" y="42153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예금·GIC 만기예정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11312" y="472744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만기가 곧 재설계 창구인 고객 — 자동 재예치가 폐지돼 방치하면 만기자금이 그대로 현금성자산이 된다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11312" y="56418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D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40건</a:t>
            </a:r>
            <a:pPr indent="0" marL="0">
              <a:buNone/>
            </a:pPr>
            <a:r>
              <a:rPr lang="en-US" sz="1000" dirty="0">
                <a:solidFill>
                  <a:srgbClr val="8A6D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시나리오 3건   결정 3건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09_고객군별_지식데이터/10_세그먼트.yaml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고객군마다 기대는 지식의 종류가 다르다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고객군이 화법 중심인지, 팩트·절차 중심인지가 에이전트 설계에 그대로 반영됩니다.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828800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938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화법 40건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2194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군 모두 10~12건씩 — 상담은 결국 말이다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092440" y="2798064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2907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· ⑥ 40건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21040" y="31638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편중과 만기가 가장 두껍다 — 제도·상품 팩트가 많이 붙는다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3767328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3877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근거 7건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21040" y="41330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이탈방어만 정량 근거가 몰려 있다 (1.3배 · 82% · 82.5%)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92440" y="4736592"/>
            <a:ext cx="3520440" cy="868680"/>
          </a:xfrm>
          <a:prstGeom prst="roundRect">
            <a:avLst>
              <a:gd name="adj" fmla="val 6316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4846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팩트 1건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21040" y="5102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 저조는 팩트가 아니라 진단 방법론으로 다룬다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09_고객군별_지식데이터/90_추적성_매트릭스.md § 2 유형별 분포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고객군은 고정된 속성이 아니라 '상태'다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손대지 않으면 아래 화살표를 따라 흘러갑니다. 이탈은 결과이지 원인이 아닙니다.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310128" y="2331720"/>
            <a:ext cx="1700784" cy="1078992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10128" y="3410712"/>
            <a:ext cx="1700784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310128" y="3410712"/>
            <a:ext cx="1700784" cy="1078992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4968" y="3410712"/>
            <a:ext cx="1426464" cy="0"/>
          </a:xfrm>
          <a:prstGeom prst="line">
            <a:avLst/>
          </a:prstGeom>
          <a:noFill/>
          <a:ln w="22225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2668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편중 상태 방치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1975104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8A6D2F"/>
          </a:solidFill>
          <a:ln w="12700">
            <a:solidFill>
              <a:srgbClr val="8A6D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7510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만기예정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724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 후 운용지시 없음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054096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540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방치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 입금 후 미운용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4133088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3E6B8C"/>
          </a:solidFill>
          <a:ln w="12700">
            <a:solidFill>
              <a:srgbClr val="3E6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3308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수익률 저조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48828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매도만 하고 매수 미실행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3054096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540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자산편중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81160" y="3054096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30540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이탈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281160" y="4151376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4270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이탈률 1.3배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45752" y="456285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편중 14.8% vs 일반 11.8%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('25.11~'26.4 이탈고객 분석)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468112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55040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함의 — 예산과 인력을 ④에 몰면 늦습니다. ⑥·③·②의 예방 트랙이 실제 이탈 감소 지점입니다.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10_세그먼트.yaml routing.transitions · KU-E-001(Series1 2026.05) · KU-E-005(Hot Tip 203753)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고객이 여러 군에 걸릴 때 — 판정 순서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고객은 대부분 2개 이상에 해당합니다. 원칙은 '기한이 붙은 것 먼저'입니다.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2834640"/>
                <a:gridCol w="429768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조건이면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먼저인가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이탈가능성 높음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전출 알림이 수신된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이벤트형이고 기한이 있다 — 다른 모든 고객군에 우선한다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세액공제·추가입금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ISA 만기·퇴직금 60일 타이머가 돌고 있는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지나면 기회가 소멸한다 (기한 &gt; 조회형)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예금·GIC 만기예정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만기 D-30 상품이 있는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이상하게 여기지 않는 접촉 명분이고, 방치 시 SEG-02·03으로 전이된다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자산편중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편중 조건에 해당하는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 1.3배 — 예방 트랙 중 근거가 가장 강하다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수익률 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수익률 격차가 큰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원인(구성/상품)이 특정될 때만 제안이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방치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어느 것에도 안 걸리지만 접점이 없는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 트랙 — 관계 형성 자체가 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19379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전출 알림 · ISA 60일 · 퇴직금 60일 · 만기 D-30은 지나면 기회가 소멸하지만, 편중·수익률·방치는 다음 달에도 그대로 있습니다. 접촉 리스트 정렬의 1순위 키가 기한이어야 하는 이유입니다.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10_세그먼트.yaml routing.precedence · 07_에이전트_기능정의 ④ '이벤트·기한 &gt; 조회형'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3E6B8C"/>
          </a:solidFill>
          <a:ln w="12700">
            <a:solidFill>
              <a:srgbClr val="3E6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 저조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6B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수익률제고 · 이탈방어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적립금은 있으나 수익률이 기준선에 크게 못 미치는 고객 — 지적이 아니라 개선안으로 접근한다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 300만원 이상 AND (원리금보장 100% 운용 OR 환매추천펀드 보유) AND 1년 수익률이 당행 IRP 평균 대비 -5%p 이상 열위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연금개시·수령 중 계좌 · PB센터 관리고객 · 최근 6개월 내 신규·전입 계좌(운용기간 부족)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7.97% vs 2.52%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당행 IRP 고객 1년 평균 수익률과 고유계정대 금리의 격차입니다. 이 차이가 방치의 기회비용이며, 리밸런싱 제안의 정량 근거가 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(수익률 '26.1분기 / 금리 '26.5월 기준 — 분기마다 갱신)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3건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수익률 저조 · 전액 원리금보장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수익률 저조 · 부진 펀드 보유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수익률 저조 · '안전하게만' 고수 고객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3건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정량 임계값 부재 (D-01)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환매추천펀드 목록의 현행 운영 여부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비교그룹 조회화면 [06-12-631] 현행 여부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10·24·36번 · 방법론 3·4번 · 화법 28·63번 · KU-E-011(Series1 2026.05)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자산편중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수익률제고 · 이탈방어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적립금이 현금성자산·원리금보장상품 한쪽에 몰려 있는 고객 — 이탈률이 일반의 1.3배인 본부 최우선 관리군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 1천만원 이상 AND 고유계정대 보유비율 50% 이상 AND 1개월 이상 금액 변동 없음 AND 입금사유가 교체매매·연금지급이 아님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연금개시 계좌 · PB센터 관리고객 · 투자성향 공격투자형 &amp; 디폴트옵션 초저위험(별도 관리)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이탈위험 1.3배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고유계정대 50% 이상 또는 고유대+시중은행 정기예금 100% 보유 고객의 이탈률 14.8%, 일반 고객 11.8%. 본부가 리밸런싱 최우선 세그먼트로 지정한 근거입니다.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('25.11~'26.4 이탈고객 분석)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3건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현금성자산 방치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현금성자산 + 시중은행 정기예금 100%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원리금보장 100%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3건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임계값 5갈래 중 기본값 (D-02)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디폴트옵션 안정형 합산 확장조건 채택 여부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매도 우선순위 4단의 본부 공식 여부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1·3·4·40·41번 · 방법론 1·4·6·83번 · KU-E-001(Series1 2026.05)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7B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관리사이클 · 이탈방어 · 수익률제고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운용지시도 관리 접점도 없는 계좌 — 이탈 통보가 오기 전에 손을 대야 하는 유일한 구간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 입금 후 운용지시 미실행 계좌 (1순위) → 비대면 신규 &amp; 권유직원 부재 &amp; 적립금 1천만원 이상 (2순위)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 0원 계좌(자금 유입 대기 → ⑤로 라우팅) · 연금개시 계좌 · 디폴트옵션 적용 유예 중인 계좌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재이탈 의향 82.5%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타행에서 전입한 고객 171명 설문 결과이며, 개선 요구 1위가 '고객관리'였습니다. 관리되지 않은 계좌의 이탈은 통보 후에 막을 수 없습니다.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('26년 초 설문)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3건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퇴직금 입금 후 운용지시 미실행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디폴트옵션 미등록 + 현금성자산 보유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관리 사각지대(비대면 신규·권유직원 부재)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3건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'방치' 판정 경과기간 기준 (D-03)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디폴트옵션 미지정 잔존 고객 규모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'관리 접점 부재=고위험' 인과의 본부 확인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7·11·18·41·47번 · 방법론 103·111번 · KU-E-006(보물지도 2026.03)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이탈가능성 높음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이탈방어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전출 알림이 왔거나, 이탈 신호가 겹쳐 쌓인 고객 — 사유를 특정하기 전에는 대안을 꺼내지 않는다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전출 알림 수신 계좌 전건(즉시) ② 신호 2개 이상 중첩 &amp; 적립금 1천만원 이상(예방)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상품변경 진행중 · 환매불가상품 보유 · 퇴직금 일부 미입금 (이전 자체가 진행되지 않는 상태)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IRP 이탈 +92%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'24년 퇴직연금 계약이탈이 전년 대비 48% 증가, 개인형IRP는 92% 급증했습니다. 증권사 이탈 고객의 약 82%가 ETF 투자자였습니다.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(82%는 STT 전사 수치 — 원자료 대조 필요)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4건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전출 알림 수신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이탈 사유 = 수수료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이탈 사유 = ETF·상품 라인업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이탈 사유 = 수익률·관리 불만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4건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예방 트랙 신호 중첩 기준 (D-04)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ETF 관점 상충(보유자 vs 미보유자)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KB증권 보전율 70% vs 80%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타사 장기할인 주장의 사실 확인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2·33~39·50·56번 · 방법론 39~44·102~110번 · 스타런 이탈방지 교육 5편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2C6E5B"/>
          </a:solidFill>
          <a:ln w="12700">
            <a:solidFill>
              <a:srgbClr val="2C6E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세액공제·추가입금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자금유입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 여력이 남아 있는 고객 — 기한이 붙은 자금 이벤트(ISA·퇴직금 60일)가 최우선이고, 연금개시 계좌는 반드시 뺀다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ISA 만기 D-60 ~ 만기 후 60일 이내(기한 트랙, 최우선) ② 최근 3년 납입 이력 &amp; 당해 잔여한도 보유(습관 트랙) — 두 트랙 모두 연금개시·연금지급설계 계좌 제외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연금개시 계좌 (추가입금 불가) · '연금지급설계' 등록 계좌 — 접촉 전 [02-12-223] 필수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60일 골든타임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ISA 만기자금은 60일 내 전환 시 납입한도와 무관하게 전액 이동하고 전환금액 10%(최대 300만원)만큼 공제 한도가 늘어납니다. 퇴직금도 지급일로부터 60일입니다.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(퇴직금 IRP 전환 성공률 26.5% — '25.3~'26.2)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3건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ISA 만기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세액공제 잔여한도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퇴직금 통장 수령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4건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'최근 3년 납입 이력' 정의 (D-05)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ISA 추가공제 한도 현행 기준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세액공제 미신청금액 등록 화면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'연금지급설계' 조회 경로 부재 (D-10)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13~17·44~47·49번 · 방법론 24~27·85~91번 · 보물지도 2026.03 추가납 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8A6D2F"/>
          </a:solidFill>
          <a:ln w="12700">
            <a:solidFill>
              <a:srgbClr val="8A6D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예금·GIC 만기예정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07008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수익률제고 · 이탈방어 · 관리사이클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고객군별 상세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만기가 곧 재설계 창구인 고객 — 자동 재예치가 폐지돼 방치하면 만기자금이 그대로 현금성자산이 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858000" cy="2395728"/>
          </a:xfrm>
          <a:prstGeom prst="roundRect">
            <a:avLst>
              <a:gd name="adj" fmla="val 229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(권장 타겟)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 D-30 이내 원리금보장상품 10만원 이상 보유 AND 디폴트옵션 미등록 (1순위) → 디폴트옵션 등록 완료 계좌 중 만기 D-30 (2순위, 재예치 금리 상향 목적)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제외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6355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연금개시·수령 중 계좌 · 만기자금이 인출·연금지급 예정인 계좌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3977640" cy="2395728"/>
          </a:xfrm>
          <a:prstGeom prst="roundRect">
            <a:avLst>
              <a:gd name="adj" fmla="val 2290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접촉하나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21762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재예치 폐지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82128" y="2670048"/>
            <a:ext cx="3520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7월 법 개정으로 정기예금 자동 재예치가 폐지됐습니다. 운용지시가 없으면 만기자금은 대기 중인 현금성자산으로 상환되어 곧바로 ②(편중)가 됩니다.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특별제공상품과 디폴트옵션 안정형의 금리 격차는 약 1%p 수준으로 반복 관찰됩니다.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3건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6355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만기 D-30 · 안전자산 선호형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만기 D-30 · 분산투자 가능형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만기 D-30 · 디폴트옵션 미등록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422452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고객군에서 결정할 것 3건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82128" y="459028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만기 금액 하한 (D-06)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저축은행 3년제 vs 디폴트옵션 금리 서술 상충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매도 우선순위 4단의 본부 공식 여부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6·9·42·53번 · 방법론 18·21·78번 · 팩트 F18(재예치 폐지) · Hot Tip 9737·203753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C8A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안건 11건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9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안건은 [쟁점 → 선택지 → 권고 → 결정 시 영향] 순으로 정리했습니다.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B9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권고는 정리자 의견이며, 결정 권한은 팀에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결정 안건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안건 총괄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17904"/>
          <a:ext cx="110642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00400"/>
                <a:gridCol w="914400"/>
                <a:gridCol w="4709160"/>
                <a:gridCol w="146304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수익률 저조 — 정량 임계값 신설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본부 기준에 임계값 자체가 없음. 2021년 기준(하위 30% / 1년 1.50% 이하)은 실효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자산편중 — 5갈래 임계값 중 기본값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 / 100만원 / 1천만원 / 7,500만원 / 10만원 병존 (목적이 서로 다름)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방치 — 판정 경과기간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'방치'의 시간 기준이 정의되지 않음. 어떤 값을 쓰느냐로 모집단이 크게 달라짐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이탈가능성 — 예방 트랙의 신호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전출 알림 건은 전건 대상(이견 없음). 예방 트랙 기준은 정리자 제안 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추가입금 — '최근 3년 납입 이력'의 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 부점이 같은 조건을 요청했으나 신청서마다 해석이 다름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만기예정 — 만기 금액 하한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10만원(오늘의할일 2023~24) vs 1천만원(2021, 판독 불확실) — 금액 조건 유무도 갈림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수수료율 — 대고객 인용 표준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자료별 4갈래로 상충. 대고객 발언 표준이 정해져 있지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디폴트옵션 상품변경 — 기존 적립금 매도 필요 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스크립트(2단계·매도 필요) vs KB Think(매도 불필요) — 정면 상충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득점 지식을 어디까지 반영할 것인가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현재는 '내부 정렬에만 사용, 대고객 노출 금지'로 구현 (KU-G-013)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경로가 없는 3건을 어떻게 확보할 것인가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 계좌 명세 · '연금지급설계' 등록 여부 · 전입 이력 — 원천 자료에 조회 경로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 · 본부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검증필요 13건의 처리 절차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A9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대조 전 인용 불가 상태로 표시됨 (전체 126건 중 13건)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기획팀 · 본부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495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D-01 · D-02는 타깃 명세 발주를 막고 있어 오늘 확정이 필요합니다. D-07 · D-08은 본부 확인 사항이라 오늘은 '질의 발송'까지가 목표입니다.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각 고객군 open_questions 20건 + 지식유닛 cautions에서 재분류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수익률 저조 — 정량 임계값 신설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임계값이 없으면 ①의 타깃 명세를 발주할 수 없습니다. 2021년의 '하위 30% / 1년 수익률 1.50% 이하' 기준은 금리 환경이 달라져 그대로 쓰면 과다·과소 추출이 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기준선 격차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당행 IRP 고객 1년 평균(현재 7.97%) 대비 -5%p 이상 열위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기준선이 분기마다 갱신돼 금리 환경 변화에 자동 대응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평균이 변동해 대상 규모가 분기마다 달라짐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절대값 고정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수익률 2.0% 이하 등 고정 숫자로 정의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규모 예측이 쉽고 설명이 단순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환경이 바뀌면 매번 다시 정해야 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부점 내 하위 N%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2021년 KPI 방식 — 부점 단위 상대 평가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부점별 대상 수가 일정해 배분이 쉬움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관리된 부점에서도 억지 대상이 생김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즉시 ①의 타깃 명세 발주가 가능합니다. 미확정 시 6개 고객군 중 ①만 데이터 없이 남습니다. A를 택하면 기준선 수치(KU-E-011)를 분기마다 갱신하는 운영 절차가 함께 필요합니다.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10·24번 · KU-E-011 (개인형IRP 고객관리 가이드 Series 1, 연금컨설팅부 2026.05)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자산편중 — 5갈래 임계값 중 기본값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현금성자산 기준이 다섯 갈래로 병존합니다. 각각 이탈위험 선별·KPI 인정·TM 콜 배분·대량 LMS 등 만들어진 목적이 달라, 모집단 정의로 무엇을 쓸지 정해야 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비율 기준 단독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고유대 50% 이상 + 적립금 1천만원 이상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정량 근거(이탈률 1.3배)가 붙은 기준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금액이 큰 계좌와 작은 계좌가 같은 우선순위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금액 기준 단독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고유대·시중은행 정기예금 1천만원 이상 (KPI 인정 요건과 동일)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실적과 직결되어 현장 수용도가 높음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이익 기준이 아니고 KPI 개편 시 실효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4361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361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병용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50%를 모집단 정의로, 금액을 접촉 순서 정렬 키로 분리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실적을 모두 살리고 역할이 겹치지 않음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규칙이 하나 늘어남 (현재 데이터 반영 상태)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②는 지식이 가장 많고(40건) 다른 고객군이 흘러드는 종착지라 전체 규모 추정의 기준이 됩니다. 여기에 오탐 제거 2조건(1개월 변동 없음 · 입금사유 확인)을 필수로 붙여야 접촉이 헛돌지 않습니다.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1·3·40·41번 · KU-E-001(Series1 2026.05) · KU-M-012(Hot Tip 207754, 2026.08)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방치 — 판정 경과기간 기준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미접촉 6개월인지, 미운용 1개월인지, 디폴트옵션 미지정 전수인지에 따라 대상 규모가 수십 배 차이 납니다. 가장 넓은 정의를 쓰면 사실상 전 고객이 대상이 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이벤트 기준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퇴직금 입금 후 30일 미운용을 1순위 트랙으로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금액이 크고 시점이 특정돼 ②로 전이되기 전에 잡힘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접점이 없는 소액 계좌는 계속 남음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접촉 기준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접촉 6개월 이상 경과 계좌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사각지대를 직접 겨냥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이력 데이터의 정확도에 결과가 좌우됨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상태 전수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디폴트옵션 미지정 계좌 전체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누락이 없고 조건이 단순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모집단이 지나치게 넓어 우선순위 없이는 소화 불가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A를 택하면 ⑥·⑤와 트랙이 이어져 예방 사이클이 닫힙니다. C를 택하면 요건 충족수 스코어링을 함께 정의해야 실행 가능한 크기가 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7·11·18번 · KU-E-003(보물지도 2026.03 타겟리스트) · KU-M-013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이탈가능성 — 예방 트랙의 신호 기준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전출 알림 수신 건은 기한이 있어 전건 대상으로 이견이 없습니다. 문제는 알림 전에 미리 잡는 예방 트랙을 어떤 기준으로 뽑을 것인가입니다.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신호 2개 중첩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편중·전입이력·ETF성향·대면계좌·미접촉·VIP 중 2개 이상 + 적립금 1천만원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신호의 오탐을 걸러내고 규모가 관리 가능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2개라는 숫자 자체는 실측 검증 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신호 1개 이상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신호 중 하나라도 해당하면 대상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놓치는 고객이 적음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②와 거의 같은 모집단이 되어 트랙이 중복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예방 트랙 미운영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전출 알림 수신 건만 대응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운영이 단순하고 즉시 시작 가능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'통보 전이 진짜 시점'이라는 원칙을 포기하게 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A로 시작하되 6개월 뒤 실제 이탈률로 2개 기준을 검증하는 것이 안전합니다. C는 ②·③ 예방 트랙이 그 역할을 대신한다는 전제가 필요합니다.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33~39번 · KU-E-001·006·007·008 · 스타런 이탈방지 교육 5편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추가입금 — '최근 3년 납입 이력'의 정의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대치동·창신동·명동역·서초PB·수내역·천천동 6개 부점이 사실상 동일한 조건을 요청했지만, '최근 3년 납입'이 연 1회 이상인지 3년 연속인지 명시가 갈립니다.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3년 중 1회 이상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2023~2025년 중 한 해라도 납입 이력이 있으면 포함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 습관이 있는 고객을 폭넓게 포착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끊긴 고객이 섞여 전환율이 낮아질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3년 연속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해 모두 납입 이력이 있는 계좌만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전환율이 가장 높을 것으로 기대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대상이 크게 줄어 캠페인 규모가 안 나옴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직전 연도 기준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'25년 납입 있고 '26년 미납 (납입 중단 신호)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성격이 뚜렷하고 명분이 분명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미소진 고객 상당수가 빠짐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잔여한도는 [06-12-151] 연합회 한도(당행+타행 합산)로 확인해야 합니다. 당행 납입액만으로 뽑으면 이미 한도를 채운 고객을 접촉하게 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13·14번 · 맞춤형 타깃 요청 신청서(2026) · KU-P-008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만기예정 — 만기 금액 하한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 1개월 전 안내는 본부 원칙으로 확정돼 있으나, 어느 금액부터 접촉할지가 자료마다 다릅니다. 1천만원 기준은 2021년 자료에만 있고 판독 불확실 표기가 붙어 있습니다.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10만원 + 적립금 500만원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디폴트옵션 미등록 계좌를 1순위 트랙으로 함께 적용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방치 시 ②로 전이되는 계좌를 빠짐없이 잡음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건수가 많아 비대면 발송 위주로 운영해야 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1천만원 이상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금액이 큰 만기 건만 접촉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효과가 크고 유선 접촉이 가능한 규모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 만기가 누적돼 편중 계좌가 계속 생김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금액 조건 없음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 D-30 전건 안내 (본부 원칙 그대로)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원칙에 가장 충실하고 예외가 없음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부하가 가장 크고 접촉 품질이 떨어질 위험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⑥은 다른 고객군으로 흘러가는 상류입니다. 하한을 높게 잡을수록 ②·③의 유입이 늘어납니다. A로 하되 금액대별로 채널(유선/앱 발송)을 나누는 운영이 현실적입니다.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6·9번 · KU-M-025(보물지도 2026.03) · 오늘의할일 시트34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수수료율 — 대고객 인용 표준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상충 · 본부 확인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교육영상 0.11~0.45%(시점 미표기·STT) ② Hot Tip 0.21~0.45%('24.9월말) ③ 보물지도 구간표('26.3) ④ KB Think 사용자부담금 0~0.45% / 가입자부담금 0.21~0.28%('26.6). 수수료는 ④ 이탈 사유의 상위 항목이라 행원마다 다른 숫자를 말하면 민원이 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KB Think 기준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대외공개·심의필 자료의 공개 요율을 대고객 표준으로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최신이고 고객에게 그대로 제시 가능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구간표와 표기 방식이 달라 병행 설명 필요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보물지도 구간표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배포 구간표('26.3)를 표준으로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교육 자료와 일치해 행원 혼선이 적음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대외비라 고객에게 표를 보여줄 수 없음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수치 인용 보류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회신 전까지 [04-12-613] 예상조회 결과만 안내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숫자를 말할 위험이 0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반론 대응의 즉시성이 떨어짐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 중 무엇을 택하든 '면제 조건 3분기'(만 55세 개시 / 퇴직금 5천만원+비대면 / 대면→비대면 전환)는 동일하게 유지됩니다. 오늘은 본부 질의 발송까지가 목표입니다.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팩트 F50·F55~F57 · KU-F-010 · KB Think 수수료 안내('26.6) · 보물지도('26.3)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디폴트옵션 상품변경 — 기존 적립금 매도 필요 여부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상충 · 본부 확인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지식의 최우선 상충 항목입니다. 사내 스크립트는 ⓐ사전지정운용제도 등록/변경 → ⓑ보유상품 변경의 2단계 거래로 기존 상품 매도가 필요하다고 하고, KB Think는 매도가 불필요하다고 합니다. 틀리게 안내하면 등록만 되고 자금은 움직이지 않습니다 — 고객은 처리된 줄 압니다.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2단계 유지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스크립트 기준으로 ⓐ+ⓑ를 세트로 안내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 처리 사고를 막는 안전측 선택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절차라면 고객 부담이 늘어남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KB Think 기준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변경만으로 처리된다고 안내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절차가 단순해 비대면 전환율이 높아짐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스크립트와 어긋나 사고 시 근거가 약함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안내 보류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회신 전까지 등급 상향 안내를 중단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안내 위험이 없음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②·③·⑥의 핵심 제안이 막힘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항목은 ②·③·⑥ 세 고객군의 표준 제안에 걸려 있습니다. 회신 전까지는 A(안전측)로 운영하되, 행원 안내 문구에 '2단계 거래'를 명시하는 것이 사고를 줄입니다.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05_업무처리절차 18번 [최우선 상충] · KU-M-014 · 오늘의할일 시트32 · KB Think 디폴트옵션('26.7)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득점 지식을 어디까지 반영할 것인가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· 기획팀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하반기 인정 요건은 '1천만원 이상 매도 후 저축은행 또는 TDF로 변경'이며, 시중은행 정기예금 매수는 미인정입니다. 시중은행 정기예금이 고객에게 최선인 경우와 충돌할 수 있습니다. 추가납 접촉 서열(자기부담금 30만원 미만 우선)도 고객 편익 순이 아니라 득점 효율 순입니다.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정렬에만 사용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순서·실행 규모 판단에만 쓰고 제안 상품 선정과 대고객 발언에서는 배제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이익과 실적이 충돌해도 고객 쪽이 우선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'실적이 안 되는 안내'가 나올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제안에도 반영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상품 선정 단계에서 인정 요건을 조건으로 사용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수용도와 캠페인 실행률이 높음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최적해와 어긋난 제안이 구조적으로 발생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데이터에서 제외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관련 지식유닛을 지식데이터에서 삭제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이해상충 소지를 원천 차단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순서를 정할 근거가 사라짐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A는 이미 금지 유닛(KU-G-013)으로 구현돼 있어 추가 작업이 없습니다. B를 택하면 해당 금지 유닛을 삭제해야 하고, 그 결정 기록을 남겨야 합니다.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방법론 111번(Hot Tip 207754, 2026.08) · KU-M-012·M-023 · KU-G-013 · 07_에이전트_기능정의 ④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경로가 없는 3건을 어떻게 확보할 것인가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· 기획팀 · 본부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 모두 세그먼트 정의에 쓰이지만 시스템에서 뽑는 경로가 자료에 없습니다. 특히 '연금지급설계' 등록 여부는 ⑤의 필수 제외 조건이라, 조회가 안 되면 설득을 다 해놓고 거래가 튕깁니다.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맞춤형 타깃 요청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항목을 묶어 본부에 명세 요청 (HOT MENU)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요청으로 세 고객군의 공백이 해소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여부와 주기가 본부 판단에 달림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조건에서 제외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불가 항목을 세그먼트 정의에서 뺀다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운영 가능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⑤에서 연금개시 계좌 접촉 사고가 계속 발생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수기 확인 운영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직전 화면에서 건별 확인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개발 없이 시작 가능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캠페인에서는 현실적으로 지켜지지 않음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A로 요청하되, 회신 전까지는 C(접촉 전 [02-12-223] 필수 확인)를 운영 규칙으로 못박는 것이 안전합니다. 이 확인은 이미 금지 유닛(KU-G-011)에 들어 있습니다.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SEG doc 21·47·55-2번 · KU-G-011 · 05_업무처리절차 5·7번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27632" y="365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검증필요 13건의 처리 절차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· 기획팀 · 본부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쟁점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판독 수치(82%, 100개 vs 900개), 타사 정책 주장(장기할인 승계), 화면번호 불일치, 본부 공식 여부 미확인(매도 우선순위 4단) 등이 섞여 있습니다. 성격이 달라 한 방식으로는 풀리지 않습니다.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5056" y="2450592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5056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일괄 질의 1회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13건을 성격별로 묶어 본부에 한 번에 질의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부담이 적고 회신 시점이 한 번으로 모임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회신이 늦으면 13건이 한꺼번에 묶여 지연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408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건별 담당 배정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1408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항목마다 담당자와 기한을 지정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1408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처리로 빠르게 해소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부담이 크고 진행 상태 추적이 필요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77200" y="2331720"/>
            <a:ext cx="35356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2468880"/>
            <a:ext cx="225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비활성화 후 진행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8368" y="2798064"/>
            <a:ext cx="3133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전까지 해당 유닛을 에이전트에서 제외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8368" y="3584448"/>
            <a:ext cx="313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인용 위험이 0
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④의 핵심 논거(82%)가 빠지는 등 화법에 구멍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758952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268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결정하면 무엇이 바뀌나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901184"/>
            <a:ext cx="7086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C 병행이 현실적입니다 — 질의는 한 번에 보내되, 회신 전까지는 해당 수치를 '정성 표현'으로 대체해 운영합니다(예: '상당수가 ETF 투자자'). 이 대체 규칙은 KU-G-005와 같은 계열입니다.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46120" cy="1170432"/>
          </a:xfrm>
          <a:prstGeom prst="roundRect">
            <a:avLst>
              <a:gd name="adj" fmla="val 468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3648" y="4626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결정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13648" y="49194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선택지 ______    □ 보류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__________  기한 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90_추적성_매트릭스.md § 5 검증 대상 13건 · 각 유닛 cautions 필드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신뢰도와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신뢰도 — 무엇을 그대로 쓸 수 있나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126개 지식유닛 전부에 신뢰등급·공개등급·상태가 붙어 있습니다. 에이전트는 이 값을 읽고 인용 여부를 판단합니다.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389120" y="173736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73736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039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상태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03920" y="2240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104건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464040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03920" y="25511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사용 가능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50392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9건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464040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기준시점 병기 조건부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03920" y="34198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수익률·금리·순위 — 시점 없이 인용 금지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50392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46404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검증필요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503920" y="42885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본부·원본 대조 전 인용 금지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3E8"/>
          </a:solidFill>
          <a:ln w="9525">
            <a:solidFill>
              <a:srgbClr val="C8A95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525780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대고객 제시가 가능한 자료는 KB Think 심의필뿐입니다 (KU-G-010). 보물지도·Series1·마스터북은 대외비, Hot Tip은 사내 게시글이라 고객 화면에 띄울 수 없습니다 — 화법의 '내용'만 쓰고 자료 자체는 보여주지 않습니다.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90_추적성_매트릭스.md · 05_업무처리절차 72·73번 (자료 공개등급)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신뢰도와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6642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6건 확정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60934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D-01~D-06 — 각 안건의 선택지 중 택1.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즉시 10_세그먼트.yaml의 adopted 플래그를 옮깁니다.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C0453B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6243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질의 발송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5694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D-07(수수료율)·D-08(디폴트옵션 처리)·KB증권 보전율.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검증필요 13건 중 본부 확인분을 묶어 한 번에 질의합니다.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35844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명세 발주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5295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조건으로 맞춤형 타깃 요청.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경로가 없는 3건(0원 계좌·연금지급설계·전입이력)도 함께 요청.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2C6E5B"/>
          </a:solidFill>
          <a:ln w="12700">
            <a:solidFill>
              <a:srgbClr val="2C6E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2628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45445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현장 검증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48970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19건을 영업점 2~3곳에서 실제 상담에 태워보고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질문과 대사를 다듬습니다.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641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결과는 데이터에 반영한 뒤 문서를 재생성합니다 (python3 _generate_docs.py) — 회의록과 문서가 어긋나지 않게 합니다.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신뢰도와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일람 — 이 자료에 쓰인 원천 데이터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지식유닛은 원천 문서·부서·시점과 06_주제별_추출지식의 항목 번호를 함께 보관합니다 (역추적 가능).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1371600"/>
                <a:gridCol w="1280160"/>
                <a:gridCol w="10972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 부서·출처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신뢰등급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대고객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개인형IRP 마케팅 보물지도 Vol.1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연금사업본부 연금컨설팅부 (대외비)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개인형IRP 고객관리 가이드 Series 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연금사업본부 연금컨설팅부 (대외비)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연금왕 찐천재 마스터북 1~4주차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KB국민은행 (대외비)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오늘의할일 스크립트 (xlsx)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연금사업부(상품)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2023~24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연금고객 수익률 KPI 고객관리 시나리오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 부서 (작성부서 무표기)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2021~22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퇴직연금 리밸런싱 마케팅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연금사업본부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2021.02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퇴직연금 디폴트옵션 마케팅 공문 3건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연금컨설팅부 116·140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2022.11~12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맞춤형 타깃 요청 신청서 51건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영업점 51개 부점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개인형IRP 마케팅 추진 Tip (팩트체크)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연금컨설팅부 (내부직원용)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2026.2Q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퇴직연금 마케팅포인트 연수교안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연금컨설팅부 (SME지점장연수)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개인형IRP 마케팅 사례공유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연금컨설팅부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2025.12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2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본부공식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스타런 직원교육 동영상 (STT 전사)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연금사업부 — 이탈방지·투자교육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2023~24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스타런 「나만의 Hot Tip」 게시글 50건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영업점 직원 게시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2023~2026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5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 Think 연금 콘텐츠 5건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kbthink.com (준법감시인 심의필)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2025.10~2026.07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6E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대외공개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6E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825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06_주제별_추출지식/04_제도상품팩트.md '출처 약칭' 표 · 각 지식유닛 source 필드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산출물 위치와 데이터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023360"/>
          </a:xfrm>
          <a:prstGeom prst="roundRect">
            <a:avLst>
              <a:gd name="adj" fmla="val 1364"/>
            </a:avLst>
          </a:prstGeom>
          <a:solidFill>
            <a:srgbClr val="EEF2F8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문서 (기획자용)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01_고객군_전체지도.md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비교 · 판정 순서 · 전이 · 공통 제외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11~16_SEG-NN_*.md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고객군별 상세 6종 (각 12개 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요건 · 임계값 · 오탐 제거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3236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4~7절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3236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데이터 · 근거 · 우선순위 · 브리핑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3621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시나리오 (판별질문 · 실제 대사)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9~12절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말 것 · 후속 · 지식 목록 · 확인 필요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 (에이전트용)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10_세그먼트.yaml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1540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6 — 조건 · 임계값 · 우선순위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20/21/22_지식유닛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15400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126건 — 중복 없이 단일 저장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30_시나리오.yaml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915400" y="28529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19건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90_추적성_매트릭스.md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3236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고객군 × 지식 매핑 (자동 생성)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00_스키마.md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15400" y="3621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딕셔너리 · ID 체계 · 갱신 규칙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주기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44074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 원리금보장 특별제공상품 금리 · 고유대 금리 · 추천펀드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매분기  수익률 공시 · 순위 · 환매추천펀드 목록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반기  KPI 인정 요건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수시  화면번호 · 제도 변경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 — 09_고객군별_지식데이터/  (브랜치 claude/customer-segment-knowledge-data-dattyt)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84280" y="6382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개인형IRP 사후관리 고객군 6종 — 정의와 요건 확정</dc:title>
  <dc:subject>PptxGenJS Presentation</dc:subject>
  <dc:creator>연금 에이전트 지식데이터 TF</dc:creator>
  <cp:lastModifiedBy>연금 에이전트 지식데이터 TF</cp:lastModifiedBy>
  <cp:revision>1</cp:revision>
  <dcterms:created xsi:type="dcterms:W3CDTF">2026-08-23T08:47:16Z</dcterms:created>
  <dcterms:modified xsi:type="dcterms:W3CDTF">2026-08-23T08:47:16Z</dcterms:modified>
</cp:coreProperties>
</file>